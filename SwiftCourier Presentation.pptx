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84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D2FB1-1B95-77BA-8B05-F17A71611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B301D9-C366-E138-E11D-3A7CCAAA3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8E9BB-3259-1F37-7BB7-95F0C0B89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20649-C0AB-6FF6-E86B-D787A2AC4D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719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1828800" cy="5143500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MLOps Pipeline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Assistant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Courier Company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AI chatbot powered by </a:t>
            </a:r>
            <a:r>
              <a:rPr lang="en-US" sz="1300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</a:t>
            </a: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3.3 70B via </a:t>
            </a:r>
            <a:r>
              <a:rPr lang="en-US" sz="1300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300" dirty="0"/>
          </a:p>
          <a:p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AWS with full CI/CD and </a:t>
            </a:r>
            <a:r>
              <a:rPr lang="en-US" sz="1300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pipeline.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0060" y="1188720"/>
            <a:ext cx="2514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051560" y="1421892"/>
            <a:ext cx="1371600" cy="1371600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54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371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2011680" cy="29260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32125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Fatima Shakil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3375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</a:rPr>
              <a:t>📞 </a:t>
            </a:r>
            <a:r>
              <a:rPr lang="en-US" sz="1000" dirty="0">
                <a:solidFill>
                  <a:srgbClr val="6C757D"/>
                </a:solidFill>
              </a:rPr>
              <a:t>0</a:t>
            </a:r>
            <a:r>
              <a:rPr lang="en-US" sz="1000" dirty="0" smtClean="0">
                <a:solidFill>
                  <a:srgbClr val="6C757D"/>
                </a:solidFill>
              </a:rPr>
              <a:t>318-1100149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188720"/>
            <a:ext cx="25603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886200" y="1371600"/>
            <a:ext cx="1371600" cy="137160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5400">
            <a:solidFill>
              <a:srgbClr val="009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1371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3566160" y="3291840"/>
            <a:ext cx="2011680" cy="29260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91840" y="32095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Rohma Farooqi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33375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</a:rPr>
              <a:t>📞 </a:t>
            </a:r>
            <a:r>
              <a:rPr lang="en-US" sz="1000" dirty="0" smtClean="0">
                <a:solidFill>
                  <a:srgbClr val="6C757D"/>
                </a:solidFill>
              </a:rPr>
              <a:t>03343813437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3187" y="1186819"/>
            <a:ext cx="25603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 rot="5400000">
            <a:off x="6720840" y="1478383"/>
            <a:ext cx="1371600" cy="1371600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5400">
            <a:solidFill>
              <a:srgbClr val="0096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 rot="10800000">
            <a:off x="6720840" y="137160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400800" y="3291840"/>
            <a:ext cx="2011680" cy="29260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26480" y="32125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Ilsa Irfan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35996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rgbClr val="6C757D"/>
                </a:solidFill>
              </a:rPr>
              <a:t>📞 03332628434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36D094-D9A4-0859-59EF-B50E6D3CB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10EB4D0-39AE-2089-45D4-3D1C7DC4569D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FEEDB3-02C7-1725-FD72-AAC14DA1C18F}"/>
              </a:ext>
            </a:extLst>
          </p:cNvPr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A4FCD0-8111-FA30-8F37-A3BFD839E4D3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081A25E-2706-9A2A-2B08-12CBE09463C0}"/>
              </a:ext>
            </a:extLst>
          </p:cNvPr>
          <p:cNvSpPr/>
          <p:nvPr/>
        </p:nvSpPr>
        <p:spPr>
          <a:xfrm>
            <a:off x="347473" y="1188720"/>
            <a:ext cx="2514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5123F60-B9CD-4A3E-45B7-57F68258AD6E}"/>
              </a:ext>
            </a:extLst>
          </p:cNvPr>
          <p:cNvGrpSpPr/>
          <p:nvPr/>
        </p:nvGrpSpPr>
        <p:grpSpPr>
          <a:xfrm>
            <a:off x="309374" y="1374648"/>
            <a:ext cx="2583180" cy="2743200"/>
            <a:chOff x="434340" y="1371600"/>
            <a:chExt cx="2583180" cy="2743200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543C29F7-67F6-BCC1-78A6-F4538ED921FA}"/>
                </a:ext>
              </a:extLst>
            </p:cNvPr>
            <p:cNvSpPr/>
            <p:nvPr/>
          </p:nvSpPr>
          <p:spPr>
            <a:xfrm>
              <a:off x="1051560" y="1478280"/>
              <a:ext cx="1371600" cy="137160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5400">
              <a:solidFill>
                <a:srgbClr val="0096C7"/>
              </a:solidFill>
              <a:prstDash val="solid"/>
            </a:ln>
          </p:spPr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6D98B82E-7D28-F504-0A10-ECD4DDAD908D}"/>
                </a:ext>
              </a:extLst>
            </p:cNvPr>
            <p:cNvSpPr/>
            <p:nvPr/>
          </p:nvSpPr>
          <p:spPr>
            <a:xfrm>
              <a:off x="1051560" y="1371600"/>
              <a:ext cx="137160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2600" dirty="0"/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E3FCE130-B94B-5475-A1AD-EA4B9F426C03}"/>
                </a:ext>
              </a:extLst>
            </p:cNvPr>
            <p:cNvSpPr/>
            <p:nvPr/>
          </p:nvSpPr>
          <p:spPr>
            <a:xfrm>
              <a:off x="731520" y="3337560"/>
              <a:ext cx="2011680" cy="292608"/>
            </a:xfrm>
            <a:prstGeom prst="rect">
              <a:avLst/>
            </a:prstGeom>
            <a:solidFill>
              <a:srgbClr val="00B4D8">
                <a:alpha val="80000"/>
              </a:srgbClr>
            </a:solidFill>
            <a:ln w="12700">
              <a:solidFill>
                <a:srgbClr val="00B4D8">
                  <a:alpha val="80000"/>
                </a:srgbClr>
              </a:solidFill>
              <a:prstDash val="solid"/>
            </a:ln>
          </p:spPr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B06B1B9E-F1E5-4260-8BA7-16220FC3EE9D}"/>
                </a:ext>
              </a:extLst>
            </p:cNvPr>
            <p:cNvSpPr/>
            <p:nvPr/>
          </p:nvSpPr>
          <p:spPr>
            <a:xfrm>
              <a:off x="434340" y="3255264"/>
              <a:ext cx="25603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D1B2A"/>
                  </a:solidFill>
                </a:rPr>
                <a:t>Zoha Zafar</a:t>
              </a:r>
              <a:endParaRPr lang="en-US" sz="13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6A06111E-0AE1-B252-78E6-422C3A7E0B6F}"/>
                </a:ext>
              </a:extLst>
            </p:cNvPr>
            <p:cNvSpPr/>
            <p:nvPr/>
          </p:nvSpPr>
          <p:spPr>
            <a:xfrm>
              <a:off x="731520" y="3337560"/>
              <a:ext cx="2011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0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B7A230CB-530B-BC36-F1AD-6C0D25BA2536}"/>
                </a:ext>
              </a:extLst>
            </p:cNvPr>
            <p:cNvSpPr/>
            <p:nvPr/>
          </p:nvSpPr>
          <p:spPr>
            <a:xfrm>
              <a:off x="457200" y="3749040"/>
              <a:ext cx="2560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6C757D"/>
                  </a:solidFill>
                </a:rPr>
                <a:t>📞 </a:t>
              </a:r>
              <a:r>
                <a:rPr lang="en-US" sz="1000" dirty="0" smtClean="0">
                  <a:solidFill>
                    <a:srgbClr val="6C757D"/>
                  </a:solidFill>
                </a:rPr>
                <a:t>03252124624</a:t>
              </a:r>
              <a:endParaRPr lang="en-US" sz="1000" dirty="0"/>
            </a:p>
          </p:txBody>
        </p:sp>
      </p:grpSp>
      <p:sp>
        <p:nvSpPr>
          <p:cNvPr id="12" name="Shape 10">
            <a:extLst>
              <a:ext uri="{FF2B5EF4-FFF2-40B4-BE49-F238E27FC236}">
                <a16:creationId xmlns:a16="http://schemas.microsoft.com/office/drawing/2014/main" id="{DBE8FFA1-046E-1A8F-A76A-5E64F957E40D}"/>
              </a:ext>
            </a:extLst>
          </p:cNvPr>
          <p:cNvSpPr/>
          <p:nvPr/>
        </p:nvSpPr>
        <p:spPr>
          <a:xfrm>
            <a:off x="3276599" y="1188720"/>
            <a:ext cx="25603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85E6A34-9EC2-9FE4-9BA7-5414BFF8D110}"/>
              </a:ext>
            </a:extLst>
          </p:cNvPr>
          <p:cNvGrpSpPr/>
          <p:nvPr/>
        </p:nvGrpSpPr>
        <p:grpSpPr>
          <a:xfrm>
            <a:off x="3203448" y="1359408"/>
            <a:ext cx="2737104" cy="2743200"/>
            <a:chOff x="3291840" y="1371600"/>
            <a:chExt cx="2560320" cy="2743200"/>
          </a:xfrm>
        </p:grpSpPr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4D268FAD-4C48-8864-0F39-E74425DFAB14}"/>
                </a:ext>
              </a:extLst>
            </p:cNvPr>
            <p:cNvSpPr/>
            <p:nvPr/>
          </p:nvSpPr>
          <p:spPr>
            <a:xfrm>
              <a:off x="3910232" y="1542288"/>
              <a:ext cx="1371600" cy="1371600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5400">
              <a:solidFill>
                <a:srgbClr val="0096C7"/>
              </a:solidFill>
              <a:prstDash val="solid"/>
            </a:ln>
          </p:spPr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CEF3E3DE-E9F7-9477-B164-F25D6E91C59D}"/>
                </a:ext>
              </a:extLst>
            </p:cNvPr>
            <p:cNvSpPr/>
            <p:nvPr/>
          </p:nvSpPr>
          <p:spPr>
            <a:xfrm>
              <a:off x="3886200" y="1371600"/>
              <a:ext cx="137160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2600" dirty="0"/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F9965143-BDB8-9B52-0AB4-560C2AA724F6}"/>
                </a:ext>
              </a:extLst>
            </p:cNvPr>
            <p:cNvSpPr/>
            <p:nvPr/>
          </p:nvSpPr>
          <p:spPr>
            <a:xfrm>
              <a:off x="3566160" y="3337560"/>
              <a:ext cx="2011680" cy="292608"/>
            </a:xfrm>
            <a:prstGeom prst="rect">
              <a:avLst/>
            </a:prstGeom>
            <a:solidFill>
              <a:srgbClr val="00B4D8">
                <a:alpha val="80000"/>
              </a:srgbClr>
            </a:solidFill>
            <a:ln w="12700">
              <a:solidFill>
                <a:srgbClr val="00B4D8">
                  <a:alpha val="80000"/>
                </a:srgbClr>
              </a:solidFill>
              <a:prstDash val="solid"/>
            </a:ln>
          </p:spPr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CDAC42D4-F6E3-54F9-6BC6-68F9B9C6392F}"/>
                </a:ext>
              </a:extLst>
            </p:cNvPr>
            <p:cNvSpPr/>
            <p:nvPr/>
          </p:nvSpPr>
          <p:spPr>
            <a:xfrm>
              <a:off x="3291840" y="3255264"/>
              <a:ext cx="25603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D1B2A"/>
                  </a:solidFill>
                </a:rPr>
                <a:t> Huzaifa Naveed</a:t>
              </a:r>
              <a:endParaRPr lang="en-US" sz="130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F5FD1200-92BB-22A1-E1E1-EB32F2C97A02}"/>
                </a:ext>
              </a:extLst>
            </p:cNvPr>
            <p:cNvSpPr/>
            <p:nvPr/>
          </p:nvSpPr>
          <p:spPr>
            <a:xfrm>
              <a:off x="3566160" y="3337560"/>
              <a:ext cx="2011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000" dirty="0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660AD1C2-D174-1581-CC0F-79D7A50C4B7C}"/>
                </a:ext>
              </a:extLst>
            </p:cNvPr>
            <p:cNvSpPr/>
            <p:nvPr/>
          </p:nvSpPr>
          <p:spPr>
            <a:xfrm>
              <a:off x="3291840" y="3749040"/>
              <a:ext cx="2560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6C757D"/>
                  </a:solidFill>
                </a:rPr>
                <a:t>📞 +92-318-2340485</a:t>
              </a:r>
              <a:endParaRPr lang="en-US" sz="1000" dirty="0"/>
            </a:p>
          </p:txBody>
        </p:sp>
      </p:grpSp>
      <p:sp>
        <p:nvSpPr>
          <p:cNvPr id="22" name="Text 20">
            <a:extLst>
              <a:ext uri="{FF2B5EF4-FFF2-40B4-BE49-F238E27FC236}">
                <a16:creationId xmlns:a16="http://schemas.microsoft.com/office/drawing/2014/main" id="{4554F146-1DEC-8A7B-3E09-49A2A5606B2F}"/>
              </a:ext>
            </a:extLst>
          </p:cNvPr>
          <p:cNvSpPr/>
          <p:nvPr/>
        </p:nvSpPr>
        <p:spPr>
          <a:xfrm>
            <a:off x="6126480" y="2834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7C32D9D-D070-22C1-35C4-492B36E9DA99}"/>
              </a:ext>
            </a:extLst>
          </p:cNvPr>
          <p:cNvSpPr/>
          <p:nvPr/>
        </p:nvSpPr>
        <p:spPr>
          <a:xfrm>
            <a:off x="6400800" y="33375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76F9BCA-068E-B80E-3585-0D33F7EC0517}"/>
              </a:ext>
            </a:extLst>
          </p:cNvPr>
          <p:cNvSpPr/>
          <p:nvPr/>
        </p:nvSpPr>
        <p:spPr>
          <a:xfrm>
            <a:off x="6126480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20995C1-68D3-E131-024B-D36F15275A0D}"/>
              </a:ext>
            </a:extLst>
          </p:cNvPr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0337249A-1681-9A2B-3409-C439D1042300}"/>
              </a:ext>
            </a:extLst>
          </p:cNvPr>
          <p:cNvSpPr/>
          <p:nvPr/>
        </p:nvSpPr>
        <p:spPr>
          <a:xfrm>
            <a:off x="6251446" y="1188720"/>
            <a:ext cx="25603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1792DBE-AC4C-4A09-4C96-DD4B86F45A28}"/>
              </a:ext>
            </a:extLst>
          </p:cNvPr>
          <p:cNvGrpSpPr/>
          <p:nvPr/>
        </p:nvGrpSpPr>
        <p:grpSpPr>
          <a:xfrm>
            <a:off x="6160662" y="1435608"/>
            <a:ext cx="2737104" cy="2743200"/>
            <a:chOff x="3291840" y="1371600"/>
            <a:chExt cx="2560320" cy="2743200"/>
          </a:xfrm>
        </p:grpSpPr>
        <p:sp>
          <p:nvSpPr>
            <p:cNvPr id="32" name="Shape 11">
              <a:extLst>
                <a:ext uri="{FF2B5EF4-FFF2-40B4-BE49-F238E27FC236}">
                  <a16:creationId xmlns:a16="http://schemas.microsoft.com/office/drawing/2014/main" id="{862AC985-402C-7808-E4D7-4B087DDC1F70}"/>
                </a:ext>
              </a:extLst>
            </p:cNvPr>
            <p:cNvSpPr/>
            <p:nvPr/>
          </p:nvSpPr>
          <p:spPr>
            <a:xfrm rot="5400000">
              <a:off x="3891106" y="1472732"/>
              <a:ext cx="1466306" cy="1283011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5400">
              <a:solidFill>
                <a:srgbClr val="0096C7"/>
              </a:solidFill>
              <a:prstDash val="solid"/>
            </a:ln>
          </p:spPr>
        </p:sp>
        <p:sp>
          <p:nvSpPr>
            <p:cNvPr id="33" name="Text 12">
              <a:extLst>
                <a:ext uri="{FF2B5EF4-FFF2-40B4-BE49-F238E27FC236}">
                  <a16:creationId xmlns:a16="http://schemas.microsoft.com/office/drawing/2014/main" id="{95C9F725-3B6E-7758-2B4B-F0CA021E9BF0}"/>
                </a:ext>
              </a:extLst>
            </p:cNvPr>
            <p:cNvSpPr/>
            <p:nvPr/>
          </p:nvSpPr>
          <p:spPr>
            <a:xfrm>
              <a:off x="3886200" y="1371600"/>
              <a:ext cx="137160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2600" dirty="0"/>
            </a:p>
          </p:txBody>
        </p:sp>
        <p:sp>
          <p:nvSpPr>
            <p:cNvPr id="34" name="Shape 14">
              <a:extLst>
                <a:ext uri="{FF2B5EF4-FFF2-40B4-BE49-F238E27FC236}">
                  <a16:creationId xmlns:a16="http://schemas.microsoft.com/office/drawing/2014/main" id="{E2D8D6B7-2B86-7ABE-6DF5-4D0CC0930028}"/>
                </a:ext>
              </a:extLst>
            </p:cNvPr>
            <p:cNvSpPr/>
            <p:nvPr/>
          </p:nvSpPr>
          <p:spPr>
            <a:xfrm>
              <a:off x="3566160" y="3337560"/>
              <a:ext cx="2011680" cy="292608"/>
            </a:xfrm>
            <a:prstGeom prst="rect">
              <a:avLst/>
            </a:prstGeom>
            <a:solidFill>
              <a:srgbClr val="00B4D8">
                <a:alpha val="80000"/>
              </a:srgbClr>
            </a:solidFill>
            <a:ln w="12700">
              <a:solidFill>
                <a:srgbClr val="00B4D8">
                  <a:alpha val="80000"/>
                </a:srgbClr>
              </a:solidFill>
              <a:prstDash val="solid"/>
            </a:ln>
          </p:spPr>
        </p:sp>
        <p:sp>
          <p:nvSpPr>
            <p:cNvPr id="35" name="Text 13">
              <a:extLst>
                <a:ext uri="{FF2B5EF4-FFF2-40B4-BE49-F238E27FC236}">
                  <a16:creationId xmlns:a16="http://schemas.microsoft.com/office/drawing/2014/main" id="{D60F10A7-693F-9063-A741-28C0661A1CCA}"/>
                </a:ext>
              </a:extLst>
            </p:cNvPr>
            <p:cNvSpPr/>
            <p:nvPr/>
          </p:nvSpPr>
          <p:spPr>
            <a:xfrm>
              <a:off x="3291840" y="3255264"/>
              <a:ext cx="25603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D1B2A"/>
                  </a:solidFill>
                </a:rPr>
                <a:t> Hassan Qureshi</a:t>
              </a:r>
              <a:endParaRPr lang="en-US" sz="1300" dirty="0"/>
            </a:p>
          </p:txBody>
        </p:sp>
        <p:sp>
          <p:nvSpPr>
            <p:cNvPr id="36" name="Text 15">
              <a:extLst>
                <a:ext uri="{FF2B5EF4-FFF2-40B4-BE49-F238E27FC236}">
                  <a16:creationId xmlns:a16="http://schemas.microsoft.com/office/drawing/2014/main" id="{386A6CAC-FF97-10AC-5514-CDA62732FD96}"/>
                </a:ext>
              </a:extLst>
            </p:cNvPr>
            <p:cNvSpPr/>
            <p:nvPr/>
          </p:nvSpPr>
          <p:spPr>
            <a:xfrm>
              <a:off x="3566160" y="3337560"/>
              <a:ext cx="2011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000" dirty="0"/>
            </a:p>
          </p:txBody>
        </p:sp>
        <p:sp>
          <p:nvSpPr>
            <p:cNvPr id="37" name="Text 16">
              <a:extLst>
                <a:ext uri="{FF2B5EF4-FFF2-40B4-BE49-F238E27FC236}">
                  <a16:creationId xmlns:a16="http://schemas.microsoft.com/office/drawing/2014/main" id="{E0459691-89CB-2B9C-D3AD-F1CE1F9E14E9}"/>
                </a:ext>
              </a:extLst>
            </p:cNvPr>
            <p:cNvSpPr/>
            <p:nvPr/>
          </p:nvSpPr>
          <p:spPr>
            <a:xfrm>
              <a:off x="3291840" y="3749040"/>
              <a:ext cx="2560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 smtClean="0">
                  <a:solidFill>
                    <a:srgbClr val="6C757D"/>
                  </a:solidFill>
                </a:rPr>
                <a:t>📞03310353524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97183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14800" cy="1554480"/>
          </a:xfrm>
          <a:prstGeom prst="rect">
            <a:avLst/>
          </a:prstGeom>
          <a:solidFill>
            <a:srgbClr val="13233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41832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Manual Tracking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</a:rPr>
              <a:t>Customers had to call support to track parcels — slow, frustrating, and costly in agent time.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1554480"/>
          </a:xfrm>
          <a:prstGeom prst="rect">
            <a:avLst/>
          </a:prstGeom>
          <a:solidFill>
            <a:srgbClr val="13233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28016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76672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No 24/7 Support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6459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</a:rPr>
              <a:t>Human agents unavailable outside business hours, leaving customers without answers overnight.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4114800" cy="1554480"/>
          </a:xfrm>
          <a:prstGeom prst="rect">
            <a:avLst/>
          </a:prstGeom>
          <a:solidFill>
            <a:srgbClr val="13233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41832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Inconsistent Answers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4747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</a:rPr>
              <a:t>Different agents gave different information about delays and ETAs, eroding customer trust.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4114800" cy="1554480"/>
          </a:xfrm>
          <a:prstGeom prst="rect">
            <a:avLst/>
          </a:prstGeom>
          <a:solidFill>
            <a:srgbClr val="13233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310896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76672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No Memory / Context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4747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</a:rPr>
              <a:t>Every call started from scratch — customers had to repeat their tracking number every time.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43A40"/>
                </a:solidFill>
              </a:rPr>
              <a:t>An AI-powered chatbot for SwiftCourier — available 24/7, trained to handle tracking, complaints, and booking.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9933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5820" y="202539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 err="1">
                <a:solidFill>
                  <a:srgbClr val="0D1B2A"/>
                </a:solidFill>
              </a:rPr>
              <a:t>LLaMA</a:t>
            </a:r>
            <a:r>
              <a:rPr lang="en-US" sz="1100" b="1" dirty="0">
                <a:solidFill>
                  <a:srgbClr val="0D1B2A"/>
                </a:solidFill>
              </a:rPr>
              <a:t> 3.3 70B via </a:t>
            </a:r>
            <a:r>
              <a:rPr lang="en-US" sz="1100" b="1" dirty="0" err="1">
                <a:solidFill>
                  <a:srgbClr val="0D1B2A"/>
                </a:solidFill>
              </a:rPr>
              <a:t>OpenRouter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C757D"/>
                </a:solidFill>
              </a:rPr>
              <a:t>Meta's 70B parameter model via </a:t>
            </a:r>
            <a:r>
              <a:rPr lang="en-US" sz="1000" dirty="0" err="1">
                <a:solidFill>
                  <a:srgbClr val="6C757D"/>
                </a:solidFill>
              </a:rPr>
              <a:t>OpenRouter</a:t>
            </a:r>
            <a:r>
              <a:rPr lang="en-US" sz="1000" dirty="0">
                <a:solidFill>
                  <a:srgbClr val="6C757D"/>
                </a:solidFill>
              </a:rPr>
              <a:t> (</a:t>
            </a:r>
            <a:r>
              <a:rPr lang="en-US" sz="1000" dirty="0" err="1">
                <a:solidFill>
                  <a:srgbClr val="6C757D"/>
                </a:solidFill>
              </a:rPr>
              <a:t>Groq</a:t>
            </a:r>
            <a:r>
              <a:rPr lang="en-US" sz="1000" dirty="0">
                <a:solidFill>
                  <a:srgbClr val="6C757D"/>
                </a:solidFill>
              </a:rPr>
              <a:t> backend) — powerful, fast, no OpenAI dependency.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92024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9933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94760" y="19933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Serverless on AWS Lambda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242316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</a:rPr>
              <a:t>Scales automatically. Costs nothing when idle. Handles any traffic spike instantly.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92024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9933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20840" y="19933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Conversation Memory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242316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</a:rPr>
              <a:t>DynamoDB stores per-user history. Customers never repeat themselves — the bot remembers context.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42900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35021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" y="352501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 err="1">
                <a:solidFill>
                  <a:srgbClr val="0D1B2A"/>
                </a:solidFill>
              </a:rPr>
              <a:t>urllib</a:t>
            </a:r>
            <a:r>
              <a:rPr lang="en-US" sz="1100" b="1" dirty="0">
                <a:solidFill>
                  <a:srgbClr val="0D1B2A"/>
                </a:solidFill>
              </a:rPr>
              <a:t> — Zero Dependencies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93192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6C757D"/>
                </a:solidFill>
              </a:rPr>
              <a:t>OpenRouter</a:t>
            </a:r>
            <a:r>
              <a:rPr lang="en-US" sz="1000" dirty="0">
                <a:solidFill>
                  <a:srgbClr val="6C757D"/>
                </a:solidFill>
              </a:rPr>
              <a:t> called with Python's built-in </a:t>
            </a:r>
            <a:r>
              <a:rPr lang="en-US" sz="1000" dirty="0" err="1">
                <a:solidFill>
                  <a:srgbClr val="6C757D"/>
                </a:solidFill>
              </a:rPr>
              <a:t>urllib</a:t>
            </a:r>
            <a:r>
              <a:rPr lang="en-US" sz="1000" dirty="0">
                <a:solidFill>
                  <a:srgbClr val="6C757D"/>
                </a:solidFill>
              </a:rPr>
              <a:t> — no third-party HTTP libraries, no bloated packages.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342900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0" y="35021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794760" y="35021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CI/CD with GitHub Actions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393192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</a:rPr>
              <a:t>Every code push automatically tests and deploys to AWS in under 2 minutes.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342900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35021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20840" y="35021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CloudWatch Monitoring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393192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</a:rPr>
              <a:t>Alarms fire if errors spike or responses slow — issues caught before customers notice.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</a:rPr>
              <a:t>How every component connects — end to end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828800"/>
            <a:ext cx="1371600" cy="685800"/>
          </a:xfrm>
          <a:prstGeom prst="rect">
            <a:avLst/>
          </a:prstGeom>
          <a:solidFill>
            <a:srgbClr val="13233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User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0E0EF"/>
                </a:solidFill>
              </a:rPr>
              <a:t>POST /chat</a:t>
            </a:r>
            <a:endParaRPr lang="en-US" sz="900" dirty="0"/>
          </a:p>
          <a:p>
            <a:pPr algn="ctr"/>
            <a:r>
              <a:rPr lang="en-US" sz="900" dirty="0" err="1">
                <a:solidFill>
                  <a:srgbClr val="90E0EF"/>
                </a:solidFill>
              </a:rPr>
              <a:t>session_id</a:t>
            </a:r>
            <a:r>
              <a:rPr lang="en-US" sz="900" dirty="0">
                <a:solidFill>
                  <a:srgbClr val="90E0EF"/>
                </a:solidFill>
              </a:rPr>
              <a:t> + message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20240" y="1554480"/>
            <a:ext cx="1554480" cy="1188720"/>
          </a:xfrm>
          <a:prstGeom prst="rect">
            <a:avLst/>
          </a:prstGeom>
          <a:solidFill>
            <a:srgbClr val="13233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API Gateway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193852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0E0EF"/>
                </a:solidFill>
              </a:rPr>
              <a:t>REST API</a:t>
            </a:r>
            <a:endParaRPr lang="en-US" sz="900" dirty="0"/>
          </a:p>
          <a:p>
            <a:pPr algn="ctr"/>
            <a:r>
              <a:rPr lang="en-US" sz="900" dirty="0">
                <a:solidFill>
                  <a:srgbClr val="90E0EF"/>
                </a:solidFill>
              </a:rPr>
              <a:t>/prod/chat</a:t>
            </a:r>
            <a:endParaRPr lang="en-US" sz="900" dirty="0"/>
          </a:p>
          <a:p>
            <a:pPr algn="ctr"/>
            <a:r>
              <a:rPr lang="en-US" sz="900" dirty="0">
                <a:solidFill>
                  <a:srgbClr val="90E0EF"/>
                </a:solidFill>
              </a:rPr>
              <a:t>us-east-2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94760" y="1554480"/>
            <a:ext cx="1554480" cy="1188720"/>
          </a:xfrm>
          <a:prstGeom prst="rect">
            <a:avLst/>
          </a:prstGeom>
          <a:solidFill>
            <a:srgbClr val="13233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AWS Lambda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94760" y="193852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0E0EF"/>
                </a:solidFill>
              </a:rPr>
              <a:t>lambda_function.py</a:t>
            </a:r>
            <a:endParaRPr lang="en-US" sz="900" dirty="0"/>
          </a:p>
          <a:p>
            <a:pPr algn="ctr"/>
            <a:r>
              <a:rPr lang="en-US" sz="900" dirty="0">
                <a:solidFill>
                  <a:srgbClr val="90E0EF"/>
                </a:solidFill>
              </a:rPr>
              <a:t>Python 3.14</a:t>
            </a:r>
            <a:endParaRPr lang="en-US" sz="900" dirty="0"/>
          </a:p>
          <a:p>
            <a:pPr algn="ctr"/>
            <a:r>
              <a:rPr lang="en-US" sz="900" dirty="0">
                <a:solidFill>
                  <a:srgbClr val="90E0EF"/>
                </a:solidFill>
              </a:rPr>
              <a:t>256 MB / 30s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60720" y="822960"/>
            <a:ext cx="1463040" cy="1005840"/>
          </a:xfrm>
          <a:prstGeom prst="rect">
            <a:avLst/>
          </a:prstGeom>
          <a:solidFill>
            <a:srgbClr val="13233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868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 err="1">
                <a:solidFill>
                  <a:srgbClr val="00B4D8"/>
                </a:solidFill>
              </a:rPr>
              <a:t>OpenRouter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120700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 err="1">
                <a:solidFill>
                  <a:srgbClr val="90E0EF"/>
                </a:solidFill>
              </a:rPr>
              <a:t>LLaMA</a:t>
            </a:r>
            <a:r>
              <a:rPr lang="en-US" sz="900" dirty="0">
                <a:solidFill>
                  <a:srgbClr val="90E0EF"/>
                </a:solidFill>
              </a:rPr>
              <a:t> 3.3 70B</a:t>
            </a:r>
            <a:endParaRPr lang="en-US" sz="900" dirty="0"/>
          </a:p>
          <a:p>
            <a:pPr algn="ctr"/>
            <a:r>
              <a:rPr lang="en-US" sz="900" dirty="0" err="1">
                <a:solidFill>
                  <a:srgbClr val="90E0EF"/>
                </a:solidFill>
              </a:rPr>
              <a:t>Groq</a:t>
            </a:r>
            <a:r>
              <a:rPr lang="en-US" sz="900" dirty="0">
                <a:solidFill>
                  <a:srgbClr val="90E0EF"/>
                </a:solidFill>
              </a:rPr>
              <a:t> backend</a:t>
            </a:r>
            <a:endParaRPr lang="en-US" sz="900" dirty="0"/>
          </a:p>
          <a:p>
            <a:pPr algn="ctr"/>
            <a:r>
              <a:rPr lang="en-US" sz="900" dirty="0" err="1">
                <a:solidFill>
                  <a:srgbClr val="90E0EF"/>
                </a:solidFill>
              </a:rPr>
              <a:t>urllib</a:t>
            </a:r>
            <a:r>
              <a:rPr lang="en-US" sz="900" dirty="0">
                <a:solidFill>
                  <a:srgbClr val="90E0EF"/>
                </a:solidFill>
              </a:rPr>
              <a:t> (no deps)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60720" y="2011680"/>
            <a:ext cx="1463040" cy="1005840"/>
          </a:xfrm>
          <a:prstGeom prst="rect">
            <a:avLst/>
          </a:prstGeom>
          <a:solidFill>
            <a:srgbClr val="13233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S3 Bucket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239572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</a:rPr>
              <a:t>prompt.txt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</a:rPr>
              <a:t>Conv. logs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760720" y="3200400"/>
            <a:ext cx="1463040" cy="1005840"/>
          </a:xfrm>
          <a:prstGeom prst="rect">
            <a:avLst/>
          </a:prstGeom>
          <a:solidFill>
            <a:srgbClr val="13233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3246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DynamoDB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0" y="358444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0E0EF"/>
                </a:solidFill>
              </a:rPr>
              <a:t>courier-conversations</a:t>
            </a:r>
            <a:endParaRPr lang="en-US" sz="900" dirty="0"/>
          </a:p>
          <a:p>
            <a:pPr algn="ctr"/>
            <a:r>
              <a:rPr lang="en-US" sz="900" dirty="0" err="1">
                <a:solidFill>
                  <a:srgbClr val="90E0EF"/>
                </a:solidFill>
              </a:rPr>
              <a:t>session_id</a:t>
            </a:r>
            <a:r>
              <a:rPr lang="en-US" sz="900" dirty="0">
                <a:solidFill>
                  <a:srgbClr val="90E0EF"/>
                </a:solidFill>
              </a:rPr>
              <a:t> key</a:t>
            </a:r>
            <a:endParaRPr lang="en-US" sz="900" dirty="0"/>
          </a:p>
          <a:p>
            <a:pPr algn="ctr"/>
            <a:r>
              <a:rPr lang="en-US" sz="900" dirty="0">
                <a:solidFill>
                  <a:srgbClr val="90E0EF"/>
                </a:solidFill>
              </a:rPr>
              <a:t>20 turns stored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452360" y="2011680"/>
            <a:ext cx="1463040" cy="1005840"/>
          </a:xfrm>
          <a:prstGeom prst="rect">
            <a:avLst/>
          </a:prstGeom>
          <a:solidFill>
            <a:srgbClr val="13233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CloudWatch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52360" y="239572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0E0EF"/>
                </a:solidFill>
              </a:rPr>
              <a:t>Lambda logs</a:t>
            </a:r>
            <a:endParaRPr lang="en-US" sz="900" dirty="0"/>
          </a:p>
          <a:p>
            <a:pPr algn="ctr"/>
            <a:r>
              <a:rPr lang="en-US" sz="900" dirty="0">
                <a:solidFill>
                  <a:srgbClr val="90E0EF"/>
                </a:solidFill>
              </a:rPr>
              <a:t>Error alarms</a:t>
            </a:r>
            <a:endParaRPr lang="en-US" sz="900" dirty="0"/>
          </a:p>
          <a:p>
            <a:pPr algn="ctr"/>
            <a:r>
              <a:rPr lang="en-US" sz="900" dirty="0">
                <a:solidFill>
                  <a:srgbClr val="90E0EF"/>
                </a:solidFill>
              </a:rPr>
              <a:t>Perf metrics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00200" y="2167128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2148840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49240" y="1709928"/>
            <a:ext cx="411480" cy="0"/>
          </a:xfrm>
          <a:prstGeom prst="line">
            <a:avLst/>
          </a:prstGeom>
          <a:noFill/>
          <a:ln w="19050">
            <a:solidFill>
              <a:srgbClr val="48CA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49240" y="2148840"/>
            <a:ext cx="411480" cy="0"/>
          </a:xfrm>
          <a:prstGeom prst="line">
            <a:avLst/>
          </a:prstGeom>
          <a:noFill/>
          <a:ln w="19050">
            <a:solidFill>
              <a:srgbClr val="48CA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49240" y="2331720"/>
            <a:ext cx="411480" cy="1325880"/>
          </a:xfrm>
          <a:prstGeom prst="line">
            <a:avLst/>
          </a:prstGeom>
          <a:noFill/>
          <a:ln w="19050">
            <a:solidFill>
              <a:srgbClr val="48CA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23760" y="2514600"/>
            <a:ext cx="228600" cy="0"/>
          </a:xfrm>
          <a:prstGeom prst="line">
            <a:avLst/>
          </a:prstGeom>
          <a:noFill/>
          <a:ln w="19050">
            <a:solidFill>
              <a:srgbClr val="48CA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389120"/>
            <a:ext cx="8503920" cy="594360"/>
          </a:xfrm>
          <a:prstGeom prst="rect">
            <a:avLst/>
          </a:prstGeom>
          <a:solidFill>
            <a:srgbClr val="132338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3891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90E0EF"/>
                </a:solidFill>
              </a:rPr>
              <a:t>🔄  GitHub Actions  —  git push → </a:t>
            </a:r>
            <a:r>
              <a:rPr lang="en-US" sz="1000" dirty="0" err="1">
                <a:solidFill>
                  <a:srgbClr val="90E0EF"/>
                </a:solidFill>
              </a:rPr>
              <a:t>pytest</a:t>
            </a:r>
            <a:r>
              <a:rPr lang="en-US" sz="1000" dirty="0">
                <a:solidFill>
                  <a:srgbClr val="90E0EF"/>
                </a:solidFill>
              </a:rPr>
              <a:t> (6 tests) → package → deploy to Lambda  |  CloudWatch monitors 24/7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Lifecycle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4320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6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618488"/>
            <a:ext cx="457200" cy="45720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161848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User Sends Message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1671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</a:rPr>
              <a:t>Customer sends a query via REST API to API Gateway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17520" y="2258568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508760"/>
            <a:ext cx="274320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6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0128" y="1618488"/>
            <a:ext cx="457200" cy="45720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58768" y="161848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Lambda Processes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0128" y="21671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6C757D"/>
                </a:solidFill>
              </a:rPr>
              <a:t>Loads prompt.txt from S3, fetches history from DynamoDB, calls </a:t>
            </a:r>
            <a:r>
              <a:rPr lang="en-US" sz="950" dirty="0" err="1">
                <a:solidFill>
                  <a:srgbClr val="6C757D"/>
                </a:solidFill>
              </a:rPr>
              <a:t>OpenRouter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0" y="2258568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508760"/>
            <a:ext cx="274320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7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618488"/>
            <a:ext cx="457200" cy="45720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84848" y="161848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Response Delivered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36208" y="21671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6C757D"/>
                </a:solidFill>
              </a:rPr>
              <a:t>LLaMA</a:t>
            </a:r>
            <a:r>
              <a:rPr lang="en-US" sz="950" dirty="0">
                <a:solidFill>
                  <a:srgbClr val="6C757D"/>
                </a:solidFill>
              </a:rPr>
              <a:t> reply returned; turn saved to DynamoDB; JSON log written to S3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200400"/>
            <a:ext cx="274320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7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3310128"/>
            <a:ext cx="457200" cy="457200"/>
          </a:xfrm>
          <a:prstGeom prst="ellipse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2688" y="33101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Log Review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" y="385876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6C757D"/>
                </a:solidFill>
              </a:rPr>
              <a:t>Team reviews S3 logs (logs/YYYY-MM-DD/) to spot bad or incorrect answers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017520" y="3950208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3200400"/>
            <a:ext cx="274320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A93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0128" y="3310128"/>
            <a:ext cx="457200" cy="457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858768" y="33101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Prompt Update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10128" y="385876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6C757D"/>
                </a:solidFill>
              </a:rPr>
              <a:t>prompt.txt updated — upload to S3; instant effect, zero redeployment needed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43600" y="3950208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0" y="3200400"/>
            <a:ext cx="274320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94D2B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36208" y="3310128"/>
            <a:ext cx="457200" cy="457200"/>
          </a:xfrm>
          <a:prstGeom prst="ellipse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36208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101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Auto Deploy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36208" y="385876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</a:rPr>
              <a:t>GitHub Actions runs tests → packages → deploys to Lambda in 2 min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↺  Loop repeats continuously — this is MLOps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Real API · Real endpoint · End-to-end Postman test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206240" cy="3657600"/>
          </a:xfrm>
          <a:prstGeom prst="rect">
            <a:avLst/>
          </a:prstGeom>
          <a:solidFill>
            <a:srgbClr val="13233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4206240" cy="36576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📮  Postman — POST Request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Endpoint: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8CAE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https://rjmhlbtgt6.execute-api.us-east-2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8CAE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.amazonaws.com/prod/chat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Body (JSON):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3749040" cy="749808"/>
          </a:xfrm>
          <a:prstGeom prst="rect">
            <a:avLst/>
          </a:prstGeom>
          <a:solidFill>
            <a:srgbClr val="0A1A2E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42032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"message": "Where is PKG003?",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"session_id": "demo-001"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33649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ECC7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✅  Response (200 OK):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621024"/>
            <a:ext cx="3749040" cy="1005840"/>
          </a:xfrm>
          <a:prstGeom prst="rect">
            <a:avLst/>
          </a:prstGeom>
          <a:solidFill>
            <a:srgbClr val="0A1A2E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648456"/>
            <a:ext cx="3657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"response": "Great news! PKG003 is out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for delivery — arrives today! Is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there anything else I can help?",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"session_id": "demo-001"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4069080" cy="3657600"/>
          </a:xfrm>
          <a:prstGeom prst="rect">
            <a:avLst/>
          </a:prstGeom>
          <a:solidFill>
            <a:srgbClr val="13233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097280"/>
            <a:ext cx="4069080" cy="36576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0972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  6 Tests Passing  |  Full Pipeline Check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46320" y="1636776"/>
            <a:ext cx="594360" cy="219456"/>
          </a:xfrm>
          <a:prstGeom prst="roundRect">
            <a:avLst>
              <a:gd name="adj" fmla="val 12500"/>
            </a:avLst>
          </a:prstGeom>
          <a:solidFill>
            <a:srgbClr val="00B4D8">
              <a:alpha val="70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3677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UNIT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532120" y="1664208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1600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 message → 200 + response body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46320" y="2011680"/>
            <a:ext cx="3840480" cy="0"/>
          </a:xfrm>
          <a:prstGeom prst="line">
            <a:avLst/>
          </a:prstGeom>
          <a:noFill/>
          <a:ln w="6350">
            <a:solidFill>
              <a:srgbClr val="1C35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066544"/>
            <a:ext cx="594360" cy="219456"/>
          </a:xfrm>
          <a:prstGeom prst="roundRect">
            <a:avLst>
              <a:gd name="adj" fmla="val 12500"/>
            </a:avLst>
          </a:prstGeom>
          <a:solidFill>
            <a:srgbClr val="00B4D8">
              <a:alpha val="70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066544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UNIT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532120" y="2093976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20299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Empty message → 400 error returned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846320" y="2441448"/>
            <a:ext cx="3840480" cy="0"/>
          </a:xfrm>
          <a:prstGeom prst="line">
            <a:avLst/>
          </a:prstGeom>
          <a:noFill/>
          <a:ln w="6350">
            <a:solidFill>
              <a:srgbClr val="1C35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2496312"/>
            <a:ext cx="594360" cy="219456"/>
          </a:xfrm>
          <a:prstGeom prst="roundRect">
            <a:avLst>
              <a:gd name="adj" fmla="val 12500"/>
            </a:avLst>
          </a:prstGeom>
          <a:solidFill>
            <a:srgbClr val="00B4D8">
              <a:alpha val="70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49631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UNIT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532120" y="2523744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24597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CORS headers present on all responses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846320" y="2871216"/>
            <a:ext cx="3840480" cy="0"/>
          </a:xfrm>
          <a:prstGeom prst="line">
            <a:avLst/>
          </a:prstGeom>
          <a:noFill/>
          <a:ln w="6350">
            <a:solidFill>
              <a:srgbClr val="1C35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2926080"/>
            <a:ext cx="594360" cy="219456"/>
          </a:xfrm>
          <a:prstGeom prst="roundRect">
            <a:avLst>
              <a:gd name="adj" fmla="val 12500"/>
            </a:avLst>
          </a:prstGeom>
          <a:solidFill>
            <a:srgbClr val="E67E22">
              <a:alpha val="70000"/>
            </a:srgbClr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92608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INTEG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532120" y="2953512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28895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AWS credentials configured &amp; valid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846320" y="3300984"/>
            <a:ext cx="3840480" cy="0"/>
          </a:xfrm>
          <a:prstGeom prst="line">
            <a:avLst/>
          </a:prstGeom>
          <a:noFill/>
          <a:ln w="6350">
            <a:solidFill>
              <a:srgbClr val="1C35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3355848"/>
            <a:ext cx="594360" cy="219456"/>
          </a:xfrm>
          <a:prstGeom prst="roundRect">
            <a:avLst>
              <a:gd name="adj" fmla="val 12500"/>
            </a:avLst>
          </a:prstGeom>
          <a:solidFill>
            <a:srgbClr val="E67E22">
              <a:alpha val="70000"/>
            </a:srgbClr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35584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INTEG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532120" y="3383280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0" y="33192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S3 bucket accessible (prompt loaded)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846320" y="3730752"/>
            <a:ext cx="3840480" cy="0"/>
          </a:xfrm>
          <a:prstGeom prst="line">
            <a:avLst/>
          </a:prstGeom>
          <a:noFill/>
          <a:ln w="6350">
            <a:solidFill>
              <a:srgbClr val="1C35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3785616"/>
            <a:ext cx="594360" cy="219456"/>
          </a:xfrm>
          <a:prstGeom prst="roundRect">
            <a:avLst>
              <a:gd name="adj" fmla="val 12500"/>
            </a:avLst>
          </a:prstGeom>
          <a:solidFill>
            <a:srgbClr val="E67E22">
              <a:alpha val="70000"/>
            </a:srgbClr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378561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INTEG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532120" y="3813048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60720" y="37490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DynamoDB table reachable (us-east-2)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754880" y="4206240"/>
            <a:ext cx="4069080" cy="548640"/>
          </a:xfrm>
          <a:prstGeom prst="rect">
            <a:avLst/>
          </a:prstGeom>
          <a:solidFill>
            <a:srgbClr val="0A1A2E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42336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🔒  Security: IAM least-privilege · Keys in Lambda env vars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.env in .gitignore · S3 public access blocked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636</Words>
  <Application>Microsoft Office PowerPoint</Application>
  <PresentationFormat>On-screen Show (16:9)</PresentationFormat>
  <Paragraphs>142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MLOps Pipeline — AI-Based Assistant for Courier Company</dc:title>
  <dc:subject>PptxGenJS Presentation</dc:subject>
  <dc:creator>PptxGenJS</dc:creator>
  <cp:lastModifiedBy>Fasih Mamji</cp:lastModifiedBy>
  <cp:revision>4</cp:revision>
  <dcterms:created xsi:type="dcterms:W3CDTF">2026-05-08T07:56:09Z</dcterms:created>
  <dcterms:modified xsi:type="dcterms:W3CDTF">2026-05-08T11:43:51Z</dcterms:modified>
</cp:coreProperties>
</file>